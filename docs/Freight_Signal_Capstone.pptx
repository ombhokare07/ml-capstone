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F35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680960" y="0"/>
            <a:ext cx="0" cy="6858000"/>
          </a:xfrm>
          <a:prstGeom prst="line">
            <a:avLst/>
          </a:prstGeom>
          <a:ln w="5715">
            <a:solidFill>
              <a:srgbClr val="214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503920" y="0"/>
            <a:ext cx="0" cy="6858000"/>
          </a:xfrm>
          <a:prstGeom prst="line">
            <a:avLst/>
          </a:prstGeom>
          <a:ln w="5715">
            <a:solidFill>
              <a:srgbClr val="214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9326880" y="0"/>
            <a:ext cx="0" cy="6858000"/>
          </a:xfrm>
          <a:prstGeom prst="line">
            <a:avLst/>
          </a:prstGeom>
          <a:ln w="5715">
            <a:solidFill>
              <a:srgbClr val="214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149840" y="0"/>
            <a:ext cx="0" cy="6858000"/>
          </a:xfrm>
          <a:prstGeom prst="line">
            <a:avLst/>
          </a:prstGeom>
          <a:ln w="5715">
            <a:solidFill>
              <a:srgbClr val="214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5715">
            <a:solidFill>
              <a:srgbClr val="214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675120" y="731520"/>
            <a:ext cx="5513832" cy="0"/>
          </a:xfrm>
          <a:prstGeom prst="line">
            <a:avLst/>
          </a:prstGeom>
          <a:ln w="5715">
            <a:solidFill>
              <a:srgbClr val="214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675120" y="1554480"/>
            <a:ext cx="5513832" cy="0"/>
          </a:xfrm>
          <a:prstGeom prst="line">
            <a:avLst/>
          </a:prstGeom>
          <a:ln w="5715">
            <a:solidFill>
              <a:srgbClr val="214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675120" y="2377440"/>
            <a:ext cx="5513832" cy="0"/>
          </a:xfrm>
          <a:prstGeom prst="line">
            <a:avLst/>
          </a:prstGeom>
          <a:ln w="5715">
            <a:solidFill>
              <a:srgbClr val="214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675120" y="3200400"/>
            <a:ext cx="5513832" cy="0"/>
          </a:xfrm>
          <a:prstGeom prst="line">
            <a:avLst/>
          </a:prstGeom>
          <a:ln w="5715">
            <a:solidFill>
              <a:srgbClr val="214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675120" y="4023360"/>
            <a:ext cx="5513832" cy="0"/>
          </a:xfrm>
          <a:prstGeom prst="line">
            <a:avLst/>
          </a:prstGeom>
          <a:ln w="5715">
            <a:solidFill>
              <a:srgbClr val="214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675120" y="4846320"/>
            <a:ext cx="5513832" cy="0"/>
          </a:xfrm>
          <a:prstGeom prst="line">
            <a:avLst/>
          </a:prstGeom>
          <a:ln w="5715">
            <a:solidFill>
              <a:srgbClr val="214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675120" y="5669280"/>
            <a:ext cx="5513832" cy="0"/>
          </a:xfrm>
          <a:prstGeom prst="line">
            <a:avLst/>
          </a:prstGeom>
          <a:ln w="5715">
            <a:solidFill>
              <a:srgbClr val="214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498079" y="1920240"/>
            <a:ext cx="1737361" cy="0"/>
          </a:xfrm>
          <a:prstGeom prst="line">
            <a:avLst/>
          </a:prstGeom>
          <a:ln w="26670">
            <a:solidFill>
              <a:srgbClr val="BCE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235440" y="1920240"/>
            <a:ext cx="1097280" cy="1188720"/>
          </a:xfrm>
          <a:prstGeom prst="line">
            <a:avLst/>
          </a:prstGeom>
          <a:ln w="26670">
            <a:solidFill>
              <a:srgbClr val="BCE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332720" y="3108960"/>
            <a:ext cx="1005840" cy="0"/>
          </a:xfrm>
          <a:prstGeom prst="line">
            <a:avLst/>
          </a:prstGeom>
          <a:ln w="26670">
            <a:solidFill>
              <a:srgbClr val="BCE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7420355" y="1842516"/>
            <a:ext cx="155448" cy="155448"/>
          </a:xfrm>
          <a:prstGeom prst="ellipse">
            <a:avLst/>
          </a:prstGeom>
          <a:solidFill>
            <a:srgbClr val="D8E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57715" y="1842516"/>
            <a:ext cx="155448" cy="155448"/>
          </a:xfrm>
          <a:prstGeom prst="ellipse">
            <a:avLst/>
          </a:prstGeom>
          <a:solidFill>
            <a:srgbClr val="D8E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54996" y="3031236"/>
            <a:ext cx="155448" cy="155448"/>
          </a:xfrm>
          <a:prstGeom prst="ellipse">
            <a:avLst/>
          </a:prstGeom>
          <a:solidFill>
            <a:srgbClr val="D8E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260836" y="3031236"/>
            <a:ext cx="155448" cy="155448"/>
          </a:xfrm>
          <a:prstGeom prst="ellipse">
            <a:avLst/>
          </a:prstGeom>
          <a:solidFill>
            <a:srgbClr val="D8E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9808" y="676656"/>
            <a:ext cx="1481328" cy="283464"/>
          </a:xfrm>
          <a:prstGeom prst="roundRect">
            <a:avLst/>
          </a:prstGeom>
          <a:solidFill>
            <a:srgbClr val="1F4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" y="726948"/>
            <a:ext cx="13350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CE9D4"/>
                </a:solidFill>
                <a:latin typeface="Aptos"/>
              </a:rPr>
              <a:t>CAPSTONE PROJECT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1417320"/>
            <a:ext cx="5669280" cy="1572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Aptos Display"/>
              </a:rPr>
              <a:t>FREIGHT
SIGNAL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" y="3310128"/>
            <a:ext cx="5669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BCE9D4"/>
                </a:solidFill>
                <a:latin typeface="Aptos"/>
              </a:rPr>
              <a:t>Supply-chain delivery risk prediction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" y="3913632"/>
            <a:ext cx="534924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D3E3DD"/>
                </a:solidFill>
                <a:latin typeface="Aptos"/>
              </a:rPr>
              <a:t>A machine-learning decision-support prototype for prioritizing shipment reviews.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6384" y="5074920"/>
            <a:ext cx="5074920" cy="640080"/>
          </a:xfrm>
          <a:prstGeom prst="roundRect">
            <a:avLst/>
          </a:prstGeom>
          <a:solidFill>
            <a:srgbClr val="1D45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5230368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8EB8B"/>
                </a:solidFill>
                <a:latin typeface="Aptos"/>
              </a:rPr>
              <a:t>IMPORTANT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47672" y="5202936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Results use synthetic data; not production evidence.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" y="626364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8C0B9"/>
                </a:solidFill>
                <a:latin typeface="Aptos"/>
              </a:rPr>
              <a:t>PROJECT WALKTHROUGH  ?  DATA  ?  MODEL  ?  APPLICATION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51967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8C0B9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74320"/>
            <a:ext cx="108813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18878"/>
                </a:solidFill>
                <a:latin typeface="Aptos"/>
              </a:rPr>
              <a:t>01 /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7607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343A"/>
                </a:solidFill>
                <a:latin typeface="Aptos Display"/>
              </a:rPr>
              <a:t>A risk signal can help planners act earlier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7477"/>
                </a:solidFill>
                <a:latin typeface="Aptos"/>
              </a:rPr>
              <a:t>The goal is to prioritize human review before a shipment becomes a service problem.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73952"/>
            <a:ext cx="10954512" cy="10972"/>
          </a:xfrm>
          <a:prstGeom prst="rect">
            <a:avLst/>
          </a:prstGeom>
          <a:solidFill>
            <a:srgbClr val="D8E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47104"/>
            <a:ext cx="4572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E7477"/>
                </a:solidFill>
                <a:latin typeface="Aptos"/>
              </a:rPr>
              <a:t>FREIGHT SIGNAL  /  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967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E7477"/>
                </a:solidFill>
                <a:latin typeface="Aptos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55648"/>
            <a:ext cx="3456432" cy="2999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77824" y="1993392"/>
            <a:ext cx="475488" cy="283464"/>
          </a:xfrm>
          <a:prstGeom prst="roundRect">
            <a:avLst/>
          </a:prstGeom>
          <a:solidFill>
            <a:srgbClr val="E4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43684"/>
            <a:ext cx="3291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18878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514600"/>
            <a:ext cx="2971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7343A"/>
                </a:solidFill>
                <a:latin typeface="Aptos Display"/>
              </a:rPr>
              <a:t>Visibility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063240"/>
            <a:ext cx="29260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E7477"/>
                </a:solidFill>
                <a:latin typeface="Aptos"/>
              </a:rPr>
              <a:t>Identify orders that may need an earlier check.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77824" y="3959352"/>
            <a:ext cx="2935224" cy="0"/>
          </a:xfrm>
          <a:prstGeom prst="line">
            <a:avLst/>
          </a:prstGeom>
          <a:ln w="12700">
            <a:solidFill>
              <a:srgbClr val="D8E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7824" y="4151376"/>
            <a:ext cx="2971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18878"/>
                </a:solidFill>
                <a:latin typeface="Aptos"/>
              </a:rPr>
              <a:t>Supplier ? route ? port ? customs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1755648"/>
            <a:ext cx="3456432" cy="2999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608576" y="1993392"/>
            <a:ext cx="475488" cy="283464"/>
          </a:xfrm>
          <a:prstGeom prst="roundRect">
            <a:avLst/>
          </a:prstGeom>
          <a:solidFill>
            <a:srgbClr val="E4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81728" y="2043684"/>
            <a:ext cx="3291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18878"/>
                </a:solidFill>
                <a:latin typeface="Apto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576" y="2514600"/>
            <a:ext cx="2971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7343A"/>
                </a:solidFill>
                <a:latin typeface="Aptos Display"/>
              </a:rPr>
              <a:t>Decision support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3063240"/>
            <a:ext cx="29260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E7477"/>
                </a:solidFill>
                <a:latin typeface="Aptos"/>
              </a:rPr>
              <a:t>Give planners a consistent risk estimate.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608576" y="3959352"/>
            <a:ext cx="2935224" cy="0"/>
          </a:xfrm>
          <a:prstGeom prst="line">
            <a:avLst/>
          </a:prstGeom>
          <a:ln w="12700">
            <a:solidFill>
              <a:srgbClr val="D8E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608576" y="4151376"/>
            <a:ext cx="2971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18878"/>
                </a:solidFill>
                <a:latin typeface="Aptos"/>
              </a:rPr>
              <a:t>Prediction is not an instruction.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2" y="1755648"/>
            <a:ext cx="3456432" cy="2999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39328" y="1993392"/>
            <a:ext cx="475488" cy="283464"/>
          </a:xfrm>
          <a:prstGeom prst="roundRect">
            <a:avLst/>
          </a:prstGeom>
          <a:solidFill>
            <a:srgbClr val="E4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2043684"/>
            <a:ext cx="3291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18878"/>
                </a:solidFill>
                <a:latin typeface="Apto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8" y="2514600"/>
            <a:ext cx="2971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7343A"/>
                </a:solidFill>
                <a:latin typeface="Aptos Display"/>
              </a:rPr>
              <a:t>Operational response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8" y="3063240"/>
            <a:ext cx="29260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E7477"/>
                </a:solidFill>
                <a:latin typeface="Aptos"/>
              </a:rPr>
              <a:t>Review options with current shipment context.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339328" y="3959352"/>
            <a:ext cx="2935224" cy="0"/>
          </a:xfrm>
          <a:prstGeom prst="line">
            <a:avLst/>
          </a:prstGeom>
          <a:ln w="12700">
            <a:solidFill>
              <a:srgbClr val="D8E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339328" y="4151376"/>
            <a:ext cx="2971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18878"/>
                </a:solidFill>
                <a:latin typeface="Aptos"/>
              </a:rPr>
              <a:t>Monitor ? investigate ? escalate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5084064"/>
            <a:ext cx="10917936" cy="713232"/>
          </a:xfrm>
          <a:prstGeom prst="roundRect">
            <a:avLst/>
          </a:prstGeom>
          <a:solidFill>
            <a:srgbClr val="102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5321808"/>
            <a:ext cx="6583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8EB8B"/>
                </a:solidFill>
                <a:latin typeface="Aptos"/>
              </a:rPr>
              <a:t>TARGET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64208" y="5257800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delivery_risk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77639" y="5285232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0 = Low risk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285232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1 = High risk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5303520"/>
            <a:ext cx="2057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CE9D4"/>
                </a:solidFill>
                <a:latin typeface="Aptos"/>
              </a:rPr>
              <a:t>Decision support only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74320"/>
            <a:ext cx="108813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18878"/>
                </a:solidFill>
                <a:latin typeface="Aptos"/>
              </a:rPr>
              <a:t>02 /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7607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343A"/>
                </a:solidFill>
                <a:latin typeface="Aptos Display"/>
              </a:rPr>
              <a:t>A balanced, compact dataset with mixed shipment attributes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7477"/>
                </a:solidFill>
                <a:latin typeface="Aptos"/>
              </a:rPr>
              <a:t>The supplied sample is synthetic, with labels produced by a rule rather than observed outcomes.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73952"/>
            <a:ext cx="10954512" cy="10972"/>
          </a:xfrm>
          <a:prstGeom prst="rect">
            <a:avLst/>
          </a:prstGeom>
          <a:solidFill>
            <a:srgbClr val="D8E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47104"/>
            <a:ext cx="4572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E7477"/>
                </a:solidFill>
                <a:latin typeface="Aptos"/>
              </a:rPr>
              <a:t>FREIGHT SIGNAL  /  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967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E7477"/>
                </a:solidFill>
                <a:latin typeface="Aptos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09928"/>
            <a:ext cx="2523744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709928"/>
            <a:ext cx="50292" cy="1170432"/>
          </a:xfrm>
          <a:prstGeom prst="rect">
            <a:avLst/>
          </a:prstGeom>
          <a:solidFill>
            <a:srgbClr val="218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47088"/>
            <a:ext cx="21579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E7477"/>
                </a:solidFill>
                <a:latin typeface="Aptos"/>
              </a:rPr>
              <a:t>RECORDS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066544"/>
            <a:ext cx="215798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343A"/>
                </a:solidFill>
                <a:latin typeface="Aptos Display"/>
              </a:rPr>
              <a:t>438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551176"/>
            <a:ext cx="21579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E7477"/>
                </a:solidFill>
                <a:latin typeface="Aptos"/>
              </a:rPr>
              <a:t>After cleaning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46704" y="1709928"/>
            <a:ext cx="2523744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46704" y="1709928"/>
            <a:ext cx="50292" cy="1170432"/>
          </a:xfrm>
          <a:prstGeom prst="rect">
            <a:avLst/>
          </a:prstGeom>
          <a:solidFill>
            <a:srgbClr val="218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9584" y="1847088"/>
            <a:ext cx="21579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E7477"/>
                </a:solidFill>
                <a:latin typeface="Aptos"/>
              </a:rPr>
              <a:t>FIELDS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9584" y="2066544"/>
            <a:ext cx="215798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343A"/>
                </a:solidFill>
                <a:latin typeface="Aptos Display"/>
              </a:rPr>
              <a:t>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9584" y="2551176"/>
            <a:ext cx="21579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E7477"/>
                </a:solidFill>
                <a:latin typeface="Aptos"/>
              </a:rPr>
              <a:t>15 candidate inputs + target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1709928"/>
            <a:ext cx="2523744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35040" y="1709928"/>
            <a:ext cx="50292" cy="1170432"/>
          </a:xfrm>
          <a:prstGeom prst="rect">
            <a:avLst/>
          </a:prstGeom>
          <a:solidFill>
            <a:srgbClr val="218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1847088"/>
            <a:ext cx="21579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E7477"/>
                </a:solidFill>
                <a:latin typeface="Aptos"/>
              </a:rPr>
              <a:t>CLASS SPLIT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066544"/>
            <a:ext cx="215798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343A"/>
                </a:solidFill>
                <a:latin typeface="Aptos Display"/>
              </a:rPr>
              <a:t>219 / 219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551176"/>
            <a:ext cx="21579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E7477"/>
                </a:solidFill>
                <a:latin typeface="Aptos"/>
              </a:rPr>
              <a:t>Low risk / high risk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723376" y="1709928"/>
            <a:ext cx="278892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23376" y="1709928"/>
            <a:ext cx="50292" cy="1170432"/>
          </a:xfrm>
          <a:prstGeom prst="rect">
            <a:avLst/>
          </a:prstGeom>
          <a:solidFill>
            <a:srgbClr val="B77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06255" y="1847088"/>
            <a:ext cx="2423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E7477"/>
                </a:solidFill>
                <a:latin typeface="Aptos"/>
              </a:rPr>
              <a:t>DATA TYPE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06255" y="2066544"/>
            <a:ext cx="2423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343A"/>
                </a:solidFill>
                <a:latin typeface="Aptos Display"/>
              </a:rPr>
              <a:t>Synthetic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06255" y="2551176"/>
            <a:ext cx="24231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E7477"/>
                </a:solidFill>
                <a:latin typeface="Aptos"/>
              </a:rPr>
              <a:t>Demonstration only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218688"/>
            <a:ext cx="6601968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" y="3456432"/>
            <a:ext cx="4297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18878"/>
                </a:solidFill>
                <a:latin typeface="Aptos"/>
              </a:rPr>
              <a:t>WHAT GOES INTO THE 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" y="3840480"/>
            <a:ext cx="5989320" cy="1325880"/>
          </a:xfrm>
          <a:prstGeom prst="rect">
            <a:avLst/>
          </a:prstGeom>
          <a:noFill/>
        </p:spPr>
        <p:txBody>
          <a:bodyPr wrap="square" lIns="0" rIns="18288" tIns="0" bIns="0">
            <a:spAutoFit/>
          </a:bodyPr>
          <a:lstStyle/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300" b="1">
                <a:solidFill>
                  <a:srgbClr val="218878"/>
                </a:solidFill>
                <a:latin typeface="Aptos"/>
              </a:rPr>
              <a:t>?  </a:t>
            </a:r>
            <a:r>
              <a:rPr sz="1300">
                <a:solidFill>
                  <a:srgbClr val="17343A"/>
                </a:solidFill>
                <a:latin typeface="Aptos"/>
              </a:rPr>
              <a:t>Supplier and route: regions, shipping mode, distance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300" b="1">
                <a:solidFill>
                  <a:srgbClr val="218878"/>
                </a:solidFill>
                <a:latin typeface="Aptos"/>
              </a:rPr>
              <a:t>?  </a:t>
            </a:r>
            <a:r>
              <a:rPr sz="1300">
                <a:solidFill>
                  <a:srgbClr val="17343A"/>
                </a:solidFill>
                <a:latin typeface="Aptos"/>
              </a:rPr>
              <a:t>Order context: product, quantity, price, calendar fields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300" b="1">
                <a:solidFill>
                  <a:srgbClr val="218878"/>
                </a:solidFill>
                <a:latin typeface="Aptos"/>
              </a:rPr>
              <a:t>?  </a:t>
            </a:r>
            <a:r>
              <a:rPr sz="1300">
                <a:solidFill>
                  <a:srgbClr val="17343A"/>
                </a:solidFill>
                <a:latin typeface="Aptos"/>
              </a:rPr>
              <a:t>Risk signals: reliability, delay history, weather, congestion, customs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79792" y="3218688"/>
            <a:ext cx="4032504" cy="2331720"/>
          </a:xfrm>
          <a:prstGeom prst="roundRect">
            <a:avLst/>
          </a:prstGeom>
          <a:solidFill>
            <a:srgbClr val="FFF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54112" y="3502152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77724"/>
                </a:solidFill>
                <a:latin typeface="Aptos"/>
              </a:rPr>
              <a:t>DATA CAVEAT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54112" y="3904487"/>
            <a:ext cx="3401568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7343A"/>
                </a:solidFill>
                <a:latin typeface="Aptos Display"/>
              </a:rPr>
              <a:t>The target is built from a weighted risk formula + noise, then classes are balanced by down-sampling.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54112" y="5001768"/>
            <a:ext cx="3337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77724"/>
                </a:solidFill>
                <a:latin typeface="Aptos"/>
              </a:rPr>
              <a:t>No real delivery history is represented.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74320"/>
            <a:ext cx="108813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18878"/>
                </a:solidFill>
                <a:latin typeface="Aptos"/>
              </a:rPr>
              <a:t>02 / DATA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7607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343A"/>
                </a:solidFill>
                <a:latin typeface="Aptos Display"/>
              </a:rPr>
              <a:t>Quality checks found a clean sample?and outliers to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7477"/>
                </a:solidFill>
                <a:latin typeface="Aptos"/>
              </a:rPr>
              <a:t>IQR flags are prompts for investigation, not automatic deletion rules.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73952"/>
            <a:ext cx="10954512" cy="10972"/>
          </a:xfrm>
          <a:prstGeom prst="rect">
            <a:avLst/>
          </a:prstGeom>
          <a:solidFill>
            <a:srgbClr val="D8E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47104"/>
            <a:ext cx="4572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E7477"/>
                </a:solidFill>
                <a:latin typeface="Aptos"/>
              </a:rPr>
              <a:t>FREIGHT SIGNAL  /  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967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E7477"/>
                </a:solidFill>
                <a:latin typeface="Aptos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00784"/>
            <a:ext cx="3675887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56816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18878"/>
                </a:solidFill>
                <a:latin typeface="Aptos"/>
              </a:rPr>
              <a:t>CHECKS AFTER CLEANING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487168"/>
            <a:ext cx="2057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E7477"/>
                </a:solidFill>
                <a:latin typeface="Aptos"/>
              </a:rPr>
              <a:t>Missing values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487168"/>
            <a:ext cx="1051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343A"/>
                </a:solidFill>
                <a:latin typeface="Aptos"/>
              </a:rPr>
              <a:t>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32688" y="2871216"/>
            <a:ext cx="3108960" cy="0"/>
          </a:xfrm>
          <a:prstGeom prst="line">
            <a:avLst/>
          </a:prstGeom>
          <a:ln w="11430">
            <a:solidFill>
              <a:srgbClr val="D8E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41832" y="3154680"/>
            <a:ext cx="2057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E7477"/>
                </a:solidFill>
                <a:latin typeface="Aptos"/>
              </a:rPr>
              <a:t>Duplicate rows removed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3154680"/>
            <a:ext cx="1051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343A"/>
                </a:solidFill>
                <a:latin typeface="Aptos"/>
              </a:rPr>
              <a:t>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32688" y="3538728"/>
            <a:ext cx="3108960" cy="0"/>
          </a:xfrm>
          <a:prstGeom prst="line">
            <a:avLst/>
          </a:prstGeom>
          <a:ln w="11430">
            <a:solidFill>
              <a:srgbClr val="D8E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41832" y="3822191"/>
            <a:ext cx="2057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E7477"/>
                </a:solidFill>
                <a:latin typeface="Aptos"/>
              </a:rPr>
              <a:t>Rows without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3822191"/>
            <a:ext cx="1051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343A"/>
                </a:solidFill>
                <a:latin typeface="Aptos"/>
              </a:rPr>
              <a:t>0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32688" y="4206240"/>
            <a:ext cx="3108960" cy="0"/>
          </a:xfrm>
          <a:prstGeom prst="line">
            <a:avLst/>
          </a:prstGeom>
          <a:ln w="11430">
            <a:solidFill>
              <a:srgbClr val="D8E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41832" y="4489704"/>
            <a:ext cx="2057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E7477"/>
                </a:solidFill>
                <a:latin typeface="Aptos"/>
              </a:rPr>
              <a:t>Identifier excluded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4489704"/>
            <a:ext cx="1051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343A"/>
                </a:solidFill>
                <a:latin typeface="Aptos"/>
              </a:rPr>
              <a:t>order_id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53712" y="1700784"/>
            <a:ext cx="6958584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37176" y="1956816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18878"/>
                </a:solidFill>
                <a:latin typeface="Aptos"/>
              </a:rPr>
              <a:t>LARGEST IQR REVIEW COUNTS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2441448"/>
            <a:ext cx="1600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343A"/>
                </a:solidFill>
                <a:latin typeface="Aptos"/>
              </a:rPr>
              <a:t>Distance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37960" y="2459736"/>
            <a:ext cx="3931920" cy="164592"/>
          </a:xfrm>
          <a:prstGeom prst="roundRect">
            <a:avLst/>
          </a:prstGeom>
          <a:solidFill>
            <a:srgbClr val="E7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37960" y="2459736"/>
            <a:ext cx="3931920" cy="164592"/>
          </a:xfrm>
          <a:prstGeom prst="roundRect">
            <a:avLst/>
          </a:prstGeom>
          <a:solidFill>
            <a:srgbClr val="B77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44200" y="2423160"/>
            <a:ext cx="4023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343A"/>
                </a:solidFill>
                <a:latin typeface="Aptos"/>
              </a:rPr>
              <a:t>49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3008376"/>
            <a:ext cx="1600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343A"/>
                </a:solidFill>
                <a:latin typeface="Aptos"/>
              </a:rPr>
              <a:t>Customs clearance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37960" y="3026664"/>
            <a:ext cx="3931920" cy="164592"/>
          </a:xfrm>
          <a:prstGeom prst="roundRect">
            <a:avLst/>
          </a:prstGeom>
          <a:solidFill>
            <a:srgbClr val="E7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537960" y="3026664"/>
            <a:ext cx="1524622" cy="164592"/>
          </a:xfrm>
          <a:prstGeom prst="roundRect">
            <a:avLst/>
          </a:prstGeom>
          <a:solidFill>
            <a:srgbClr val="218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744200" y="2990088"/>
            <a:ext cx="4023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343A"/>
                </a:solidFill>
                <a:latin typeface="Aptos"/>
              </a:rPr>
              <a:t>19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3575304"/>
            <a:ext cx="1600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343A"/>
                </a:solidFill>
                <a:latin typeface="Aptos"/>
              </a:rPr>
              <a:t>Historical delay rate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37960" y="3593592"/>
            <a:ext cx="3931920" cy="164592"/>
          </a:xfrm>
          <a:prstGeom prst="roundRect">
            <a:avLst/>
          </a:prstGeom>
          <a:solidFill>
            <a:srgbClr val="E7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537960" y="3593592"/>
            <a:ext cx="802432" cy="164592"/>
          </a:xfrm>
          <a:prstGeom prst="roundRect">
            <a:avLst/>
          </a:prstGeom>
          <a:solidFill>
            <a:srgbClr val="218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744200" y="3557016"/>
            <a:ext cx="4023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343A"/>
                </a:solidFill>
                <a:latin typeface="Aptos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46320" y="4142231"/>
            <a:ext cx="1600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343A"/>
                </a:solidFill>
                <a:latin typeface="Aptos"/>
              </a:rPr>
              <a:t>Supplier reliability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37960" y="4160519"/>
            <a:ext cx="3931920" cy="164592"/>
          </a:xfrm>
          <a:prstGeom prst="roundRect">
            <a:avLst/>
          </a:prstGeom>
          <a:solidFill>
            <a:srgbClr val="E7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37960" y="4160519"/>
            <a:ext cx="80243" cy="164592"/>
          </a:xfrm>
          <a:prstGeom prst="roundRect">
            <a:avLst/>
          </a:prstGeom>
          <a:solidFill>
            <a:srgbClr val="218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744200" y="4123944"/>
            <a:ext cx="4023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343A"/>
                </a:solidFill>
                <a:latin typeface="Aptos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46320" y="4709160"/>
            <a:ext cx="1600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343A"/>
                </a:solidFill>
                <a:latin typeface="Aptos"/>
              </a:rPr>
              <a:t>Weather risk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37960" y="4727448"/>
            <a:ext cx="3931920" cy="164592"/>
          </a:xfrm>
          <a:prstGeom prst="roundRect">
            <a:avLst/>
          </a:prstGeom>
          <a:solidFill>
            <a:srgbClr val="E7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537960" y="4727448"/>
            <a:ext cx="80243" cy="164592"/>
          </a:xfrm>
          <a:prstGeom prst="roundRect">
            <a:avLst/>
          </a:prstGeom>
          <a:solidFill>
            <a:srgbClr val="218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744200" y="4690872"/>
            <a:ext cx="4023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343A"/>
                </a:solidFill>
                <a:latin typeface="Aptos"/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6320" y="5404104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5E7477"/>
                </a:solidFill>
                <a:latin typeface="Aptos"/>
              </a:rPr>
              <a:t>Valid extreme routes and clearance times may matter; review records before changing them.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74320"/>
            <a:ext cx="108813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18878"/>
                </a:solidFill>
                <a:latin typeface="Aptos"/>
              </a:rPr>
              <a:t>03 / EXPLORATORY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7607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343A"/>
                </a:solidFill>
                <a:latin typeface="Aptos Display"/>
              </a:rPr>
              <a:t>EDA highlights plausible signals?not causes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7477"/>
                </a:solidFill>
                <a:latin typeface="Aptos"/>
              </a:rPr>
              <a:t>Pearson correlations with the synthetic target; sign indicates direction of association.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73952"/>
            <a:ext cx="10954512" cy="10972"/>
          </a:xfrm>
          <a:prstGeom prst="rect">
            <a:avLst/>
          </a:prstGeom>
          <a:solidFill>
            <a:srgbClr val="D8E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47104"/>
            <a:ext cx="4572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E7477"/>
                </a:solidFill>
                <a:latin typeface="Aptos"/>
              </a:rPr>
              <a:t>FREIGHT SIGNAL  /  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967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E7477"/>
                </a:solidFill>
                <a:latin typeface="Aptos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00784"/>
            <a:ext cx="6720840" cy="4325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56816"/>
            <a:ext cx="2148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E7477"/>
                </a:solidFill>
                <a:latin typeface="Aptos"/>
              </a:rPr>
              <a:t>FEATURE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1956816"/>
            <a:ext cx="3200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E7477"/>
                </a:solidFill>
                <a:latin typeface="Aptos"/>
              </a:rPr>
              <a:t>CORRELATION WITH DELIVERY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23160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343A"/>
                </a:solidFill>
                <a:latin typeface="Aptos"/>
              </a:rPr>
              <a:t>Supplier reliability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321808" y="2400300"/>
            <a:ext cx="0" cy="233172"/>
          </a:xfrm>
          <a:prstGeom prst="line">
            <a:avLst/>
          </a:prstGeom>
          <a:ln w="10160">
            <a:solidFill>
              <a:srgbClr val="9FB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663647" y="2436876"/>
            <a:ext cx="2658160" cy="146304"/>
          </a:xfrm>
          <a:prstGeom prst="roundRect">
            <a:avLst/>
          </a:prstGeom>
          <a:solidFill>
            <a:srgbClr val="218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382012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343A"/>
                </a:solidFill>
                <a:latin typeface="Aptos"/>
              </a:rPr>
              <a:t>-0.388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291693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343A"/>
                </a:solidFill>
                <a:latin typeface="Aptos"/>
              </a:rPr>
              <a:t>Historical delay rate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321808" y="2894076"/>
            <a:ext cx="0" cy="233172"/>
          </a:xfrm>
          <a:prstGeom prst="line">
            <a:avLst/>
          </a:prstGeom>
          <a:ln w="10160">
            <a:solidFill>
              <a:srgbClr val="9FB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321808" y="2930652"/>
            <a:ext cx="2325547" cy="146304"/>
          </a:xfrm>
          <a:prstGeom prst="roundRect">
            <a:avLst/>
          </a:prstGeom>
          <a:solidFill>
            <a:srgbClr val="B77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2875788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343A"/>
                </a:solidFill>
                <a:latin typeface="Aptos"/>
              </a:rPr>
              <a:t>+0.339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3410712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343A"/>
                </a:solidFill>
                <a:latin typeface="Aptos"/>
              </a:rPr>
              <a:t>Customs clearance time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321808" y="3387852"/>
            <a:ext cx="0" cy="233172"/>
          </a:xfrm>
          <a:prstGeom prst="line">
            <a:avLst/>
          </a:prstGeom>
          <a:ln w="10160">
            <a:solidFill>
              <a:srgbClr val="9FB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321808" y="3424428"/>
            <a:ext cx="1626031" cy="146304"/>
          </a:xfrm>
          <a:prstGeom prst="roundRect">
            <a:avLst/>
          </a:prstGeom>
          <a:solidFill>
            <a:srgbClr val="B77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3369564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343A"/>
                </a:solidFill>
                <a:latin typeface="Aptos"/>
              </a:rPr>
              <a:t>+0.237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3904487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343A"/>
                </a:solidFill>
                <a:latin typeface="Aptos"/>
              </a:rPr>
              <a:t>Distance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321808" y="3881627"/>
            <a:ext cx="0" cy="233173"/>
          </a:xfrm>
          <a:prstGeom prst="line">
            <a:avLst/>
          </a:prstGeom>
          <a:ln w="10160">
            <a:solidFill>
              <a:srgbClr val="9FB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321808" y="3918203"/>
            <a:ext cx="1380515" cy="146304"/>
          </a:xfrm>
          <a:prstGeom prst="roundRect">
            <a:avLst/>
          </a:prstGeom>
          <a:solidFill>
            <a:srgbClr val="B77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3863339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343A"/>
                </a:solidFill>
                <a:latin typeface="Aptos"/>
              </a:rPr>
              <a:t>+0.201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" y="4398264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343A"/>
                </a:solidFill>
                <a:latin typeface="Aptos"/>
              </a:rPr>
              <a:t>Weather risk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321808" y="4375404"/>
            <a:ext cx="0" cy="233172"/>
          </a:xfrm>
          <a:prstGeom prst="line">
            <a:avLst/>
          </a:prstGeom>
          <a:ln w="10160">
            <a:solidFill>
              <a:srgbClr val="9FB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321808" y="4411980"/>
            <a:ext cx="1348282" cy="146304"/>
          </a:xfrm>
          <a:prstGeom prst="roundRect">
            <a:avLst/>
          </a:prstGeom>
          <a:solidFill>
            <a:srgbClr val="B77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435711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343A"/>
                </a:solidFill>
                <a:latin typeface="Aptos"/>
              </a:rPr>
              <a:t>+0.197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4892040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343A"/>
                </a:solidFill>
                <a:latin typeface="Aptos"/>
              </a:rPr>
              <a:t>Port congestion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321808" y="4869179"/>
            <a:ext cx="0" cy="233173"/>
          </a:xfrm>
          <a:prstGeom prst="line">
            <a:avLst/>
          </a:prstGeom>
          <a:ln w="10160">
            <a:solidFill>
              <a:srgbClr val="9FB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5321808" y="4905755"/>
            <a:ext cx="1268730" cy="146304"/>
          </a:xfrm>
          <a:prstGeom prst="roundRect">
            <a:avLst/>
          </a:prstGeom>
          <a:solidFill>
            <a:srgbClr val="B77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80" y="4850892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343A"/>
                </a:solidFill>
                <a:latin typeface="Aptos"/>
              </a:rPr>
              <a:t>+0.185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626096" y="1700784"/>
            <a:ext cx="3886200" cy="1947672"/>
          </a:xfrm>
          <a:prstGeom prst="roundRect">
            <a:avLst/>
          </a:prstGeom>
          <a:solidFill>
            <a:srgbClr val="102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27848" y="2002536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CE9D4"/>
                </a:solidFill>
                <a:latin typeface="Aptos"/>
              </a:rPr>
              <a:t>STRONGEST ASSOCIATION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27848" y="2404872"/>
            <a:ext cx="2971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ptos Display"/>
              </a:rPr>
              <a:t>Supplier reliability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27848" y="2834640"/>
            <a:ext cx="2423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D8EB8B"/>
                </a:solidFill>
                <a:latin typeface="Aptos Display"/>
              </a:rPr>
              <a:t>r = -0.388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626096" y="3840480"/>
            <a:ext cx="3886200" cy="2185416"/>
          </a:xfrm>
          <a:prstGeom prst="roundRect">
            <a:avLst/>
          </a:prstGeom>
          <a:solidFill>
            <a:srgbClr val="E4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27848" y="4105656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18878"/>
                </a:solidFill>
                <a:latin typeface="Aptos"/>
              </a:rPr>
              <a:t>INTERPRET WITH CARE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27848" y="4489704"/>
            <a:ext cx="3200400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7343A"/>
                </a:solidFill>
                <a:latin typeface="Aptos"/>
              </a:rPr>
              <a:t>Labels are generated using related risk features. These correlations may reflect the generator itself.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74320"/>
            <a:ext cx="108813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18878"/>
                </a:solidFill>
                <a:latin typeface="Aptos"/>
              </a:rPr>
              <a:t>04 /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7607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343A"/>
                </a:solidFill>
                <a:latin typeface="Aptos Display"/>
              </a:rPr>
              <a:t>Leakage-aware preprocessing protects the test split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7477"/>
                </a:solidFill>
                <a:latin typeface="Aptos"/>
              </a:rPr>
              <a:t>Fit transformations on training data only, then apply the same fitted state consistently.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73952"/>
            <a:ext cx="10954512" cy="10972"/>
          </a:xfrm>
          <a:prstGeom prst="rect">
            <a:avLst/>
          </a:prstGeom>
          <a:solidFill>
            <a:srgbClr val="D8E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47104"/>
            <a:ext cx="4572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E7477"/>
                </a:solidFill>
                <a:latin typeface="Aptos"/>
              </a:rPr>
              <a:t>FREIGHT SIGNAL  /  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967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E7477"/>
                </a:solidFill>
                <a:latin typeface="Aptos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56231"/>
            <a:ext cx="24688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7" y="2048256"/>
            <a:ext cx="429768" cy="283464"/>
          </a:xfrm>
          <a:prstGeom prst="roundRect">
            <a:avLst/>
          </a:prstGeom>
          <a:solidFill>
            <a:srgbClr val="E4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399" y="2098548"/>
            <a:ext cx="2834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18878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578608"/>
            <a:ext cx="2103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7343A"/>
                </a:solidFill>
                <a:latin typeface="Aptos Display"/>
              </a:rPr>
              <a:t>Raw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953512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E7477"/>
                </a:solidFill>
                <a:latin typeface="Aptos"/>
              </a:rPr>
              <a:t>438 orders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54680" y="2615184"/>
            <a:ext cx="256031" cy="0"/>
          </a:xfrm>
          <a:prstGeom prst="line">
            <a:avLst/>
          </a:prstGeom>
          <a:ln w="25400">
            <a:solidFill>
              <a:srgbClr val="218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hevron 13"/>
          <p:cNvSpPr/>
          <p:nvPr/>
        </p:nvSpPr>
        <p:spPr>
          <a:xfrm>
            <a:off x="3319272" y="2523744"/>
            <a:ext cx="155448" cy="182880"/>
          </a:xfrm>
          <a:prstGeom prst="chevron">
            <a:avLst/>
          </a:prstGeom>
          <a:solidFill>
            <a:srgbClr val="218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74720" y="1856231"/>
            <a:ext cx="24688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57600" y="2048256"/>
            <a:ext cx="429768" cy="283464"/>
          </a:xfrm>
          <a:prstGeom prst="roundRect">
            <a:avLst/>
          </a:prstGeom>
          <a:solidFill>
            <a:srgbClr val="E4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30752" y="2098548"/>
            <a:ext cx="2834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18878"/>
                </a:solidFill>
                <a:latin typeface="Apto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78608"/>
            <a:ext cx="2103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7343A"/>
                </a:solidFill>
                <a:latin typeface="Aptos Display"/>
              </a:rPr>
              <a:t>Stratified split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2953512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E7477"/>
                </a:solidFill>
                <a:latin typeface="Aptos"/>
              </a:rPr>
              <a:t>350 train / 88 test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71031" y="2615184"/>
            <a:ext cx="256033" cy="0"/>
          </a:xfrm>
          <a:prstGeom prst="line">
            <a:avLst/>
          </a:prstGeom>
          <a:ln w="25400">
            <a:solidFill>
              <a:srgbClr val="218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hevron 20"/>
          <p:cNvSpPr/>
          <p:nvPr/>
        </p:nvSpPr>
        <p:spPr>
          <a:xfrm>
            <a:off x="6135624" y="2523744"/>
            <a:ext cx="155448" cy="182880"/>
          </a:xfrm>
          <a:prstGeom prst="chevron">
            <a:avLst/>
          </a:prstGeom>
          <a:solidFill>
            <a:srgbClr val="218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91072" y="1856231"/>
            <a:ext cx="24688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73952" y="2048256"/>
            <a:ext cx="429768" cy="283464"/>
          </a:xfrm>
          <a:prstGeom prst="roundRect">
            <a:avLst/>
          </a:prstGeom>
          <a:solidFill>
            <a:srgbClr val="E4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47104" y="2098548"/>
            <a:ext cx="2834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18878"/>
                </a:solidFill>
                <a:latin typeface="Apto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2578608"/>
            <a:ext cx="2103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7343A"/>
                </a:solidFill>
                <a:latin typeface="Aptos Display"/>
              </a:rPr>
              <a:t>Fit on train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3952" y="2953512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E7477"/>
                </a:solidFill>
                <a:latin typeface="Aptos"/>
              </a:rPr>
              <a:t>Impute ? encode ? scale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87384" y="2615184"/>
            <a:ext cx="256032" cy="0"/>
          </a:xfrm>
          <a:prstGeom prst="line">
            <a:avLst/>
          </a:prstGeom>
          <a:ln w="25400">
            <a:solidFill>
              <a:srgbClr val="218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hevron 27"/>
          <p:cNvSpPr/>
          <p:nvPr/>
        </p:nvSpPr>
        <p:spPr>
          <a:xfrm>
            <a:off x="8951976" y="2523744"/>
            <a:ext cx="155448" cy="182880"/>
          </a:xfrm>
          <a:prstGeom prst="chevron">
            <a:avLst/>
          </a:prstGeom>
          <a:solidFill>
            <a:srgbClr val="218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107424" y="1856231"/>
            <a:ext cx="24688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290304" y="2048256"/>
            <a:ext cx="429768" cy="283464"/>
          </a:xfrm>
          <a:prstGeom prst="roundRect">
            <a:avLst/>
          </a:prstGeom>
          <a:solidFill>
            <a:srgbClr val="E4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63456" y="2098548"/>
            <a:ext cx="2834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18878"/>
                </a:solidFill>
                <a:latin typeface="Aptos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90304" y="2578608"/>
            <a:ext cx="2103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7343A"/>
                </a:solidFill>
                <a:latin typeface="Aptos Display"/>
              </a:rPr>
              <a:t>Train &amp; assess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90304" y="2953512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E7477"/>
                </a:solidFill>
                <a:latin typeface="Aptos"/>
              </a:rPr>
              <a:t>Test remains held out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3822191"/>
            <a:ext cx="6611112" cy="1673352"/>
          </a:xfrm>
          <a:prstGeom prst="roundRect">
            <a:avLst/>
          </a:prstGeom>
          <a:solidFill>
            <a:srgbClr val="102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4087368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CE9D4"/>
                </a:solidFill>
                <a:latin typeface="Aptos"/>
              </a:rPr>
              <a:t>PREPROCESSOR LEARNS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4489704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Training medians + modes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30168" y="4489704"/>
            <a:ext cx="16824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One-hot categories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04688" y="4489704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Numeric scaling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" y="5010912"/>
            <a:ext cx="59436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CE9D4"/>
                </a:solidFill>
                <a:latin typeface="Aptos"/>
              </a:rPr>
              <a:t>Identifiers such as order_id are dropped; test and inference reuse saved feature columns.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52944" y="3822191"/>
            <a:ext cx="3959352" cy="1673352"/>
          </a:xfrm>
          <a:prstGeom prst="roundRect">
            <a:avLst/>
          </a:prstGeom>
          <a:solidFill>
            <a:srgbClr val="E4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45552" y="4096512"/>
            <a:ext cx="3200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18878"/>
                </a:solidFill>
                <a:latin typeface="Aptos"/>
              </a:rPr>
              <a:t>CROSS-VALIDATION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45552" y="4471416"/>
            <a:ext cx="31089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7343A"/>
                </a:solidFill>
                <a:latin typeface="Aptos Display"/>
              </a:rPr>
              <a:t>Stratified 5-fold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45552" y="4956048"/>
            <a:ext cx="32004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7477"/>
                </a:solidFill>
                <a:latin typeface="Aptos"/>
              </a:rPr>
              <a:t>Each fold fits its own preprocessing.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74320"/>
            <a:ext cx="108813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18878"/>
                </a:solidFill>
                <a:latin typeface="Aptos"/>
              </a:rPr>
              <a:t>05 /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7607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343A"/>
                </a:solidFill>
                <a:latin typeface="Aptos Display"/>
              </a:rPr>
              <a:t>Tuning selected an RBF SVC for this 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7477"/>
                </a:solidFill>
                <a:latin typeface="Aptos"/>
              </a:rPr>
              <a:t>A five-fold training search compared several classifiers; the result is specific to this synthetic sample.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73952"/>
            <a:ext cx="10954512" cy="10972"/>
          </a:xfrm>
          <a:prstGeom prst="rect">
            <a:avLst/>
          </a:prstGeom>
          <a:solidFill>
            <a:srgbClr val="D8E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47104"/>
            <a:ext cx="4572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E7477"/>
                </a:solidFill>
                <a:latin typeface="Aptos"/>
              </a:rPr>
              <a:t>FREIGHT SIGNAL  /  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967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E7477"/>
                </a:solidFill>
                <a:latin typeface="Aptos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47088"/>
            <a:ext cx="3456432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86968" y="2075688"/>
            <a:ext cx="1024128" cy="283464"/>
          </a:xfrm>
          <a:prstGeom prst="roundRect">
            <a:avLst/>
          </a:prstGeom>
          <a:solidFill>
            <a:srgbClr val="E4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125980"/>
            <a:ext cx="8778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18878"/>
                </a:solidFill>
                <a:latin typeface="Aptos"/>
              </a:rPr>
              <a:t>Candidate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633472"/>
            <a:ext cx="29718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7343A"/>
                </a:solidFill>
                <a:latin typeface="Aptos Display"/>
              </a:rPr>
              <a:t>Decision Tree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13639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7477"/>
                </a:solidFill>
                <a:latin typeface="Aptos"/>
              </a:rPr>
              <a:t>Readable splits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847088"/>
            <a:ext cx="3456432" cy="1920240"/>
          </a:xfrm>
          <a:prstGeom prst="roundRect">
            <a:avLst/>
          </a:prstGeom>
          <a:solidFill>
            <a:srgbClr val="102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17720" y="2075688"/>
            <a:ext cx="1024128" cy="283464"/>
          </a:xfrm>
          <a:prstGeom prst="roundRect">
            <a:avLst/>
          </a:prstGeom>
          <a:solidFill>
            <a:srgbClr val="315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90872" y="2125980"/>
            <a:ext cx="8778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D8EB8B"/>
                </a:solidFill>
                <a:latin typeface="Aptos"/>
              </a:rPr>
              <a:t>SELECTED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633472"/>
            <a:ext cx="29718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ptos Display"/>
              </a:rPr>
              <a:t>RBF SVC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13639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CE9D4"/>
                </a:solidFill>
                <a:latin typeface="Aptos"/>
              </a:rPr>
              <a:t>C = 0.1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1847088"/>
            <a:ext cx="3456432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48472" y="2075688"/>
            <a:ext cx="1024128" cy="283464"/>
          </a:xfrm>
          <a:prstGeom prst="roundRect">
            <a:avLst/>
          </a:prstGeom>
          <a:solidFill>
            <a:srgbClr val="E4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21624" y="2125980"/>
            <a:ext cx="8778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18878"/>
                </a:solidFill>
                <a:latin typeface="Aptos"/>
              </a:rPr>
              <a:t>Candidate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2" y="2633472"/>
            <a:ext cx="29718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7343A"/>
                </a:solidFill>
                <a:latin typeface="Aptos Display"/>
              </a:rPr>
              <a:t>Gradient Boosting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2" y="313639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7477"/>
                </a:solidFill>
                <a:latin typeface="Aptos"/>
              </a:rPr>
              <a:t>Ensemble trees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160520"/>
            <a:ext cx="5230368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4425696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18878"/>
                </a:solidFill>
                <a:latin typeface="Aptos"/>
              </a:rPr>
              <a:t>MODEL SEARCH SCORE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4736592"/>
            <a:ext cx="164592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7343A"/>
                </a:solidFill>
                <a:latin typeface="Aptos Display"/>
              </a:rPr>
              <a:t>76.3%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98064" y="4818888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7477"/>
                </a:solidFill>
                <a:latin typeface="Aptos"/>
              </a:rPr>
              <a:t>Mean 5-fold accuracy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4160520"/>
            <a:ext cx="5340096" cy="1444752"/>
          </a:xfrm>
          <a:prstGeom prst="roundRect">
            <a:avLst/>
          </a:prstGeom>
          <a:solidFill>
            <a:srgbClr val="FFF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41655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77724"/>
                </a:solidFill>
                <a:latin typeface="Aptos"/>
              </a:rPr>
              <a:t>IMPORTANT CAVEAT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736592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7343A"/>
                </a:solidFill>
                <a:latin typeface="Aptos Display"/>
              </a:rPr>
              <a:t>Search winner ? universally best model.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5129784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7477"/>
                </a:solidFill>
                <a:latin typeface="Aptos"/>
              </a:rPr>
              <a:t>Validate on future real-world shipments.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74320"/>
            <a:ext cx="108813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18878"/>
                </a:solidFill>
                <a:latin typeface="Aptos"/>
              </a:rPr>
              <a:t>06 /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7607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343A"/>
                </a:solidFill>
                <a:latin typeface="Aptos Display"/>
              </a:rPr>
              <a:t>Held-out results are above baseline on this sample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7477"/>
                </a:solidFill>
                <a:latin typeface="Aptos"/>
              </a:rPr>
              <a:t>One stratified 88-record test split; scores are demonstrations, not deployment guarantees.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73952"/>
            <a:ext cx="10954512" cy="10972"/>
          </a:xfrm>
          <a:prstGeom prst="rect">
            <a:avLst/>
          </a:prstGeom>
          <a:solidFill>
            <a:srgbClr val="D8E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47104"/>
            <a:ext cx="4572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E7477"/>
                </a:solidFill>
                <a:latin typeface="Aptos"/>
              </a:rPr>
              <a:t>FREIGHT SIGNAL  /  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967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E7477"/>
                </a:solidFill>
                <a:latin typeface="Aptos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00784"/>
            <a:ext cx="2523744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700784"/>
            <a:ext cx="50292" cy="1170432"/>
          </a:xfrm>
          <a:prstGeom prst="rect">
            <a:avLst/>
          </a:prstGeom>
          <a:solidFill>
            <a:srgbClr val="218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21579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E7477"/>
                </a:solidFill>
                <a:latin typeface="Aptos"/>
              </a:rPr>
              <a:t>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057400"/>
            <a:ext cx="215798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343A"/>
                </a:solidFill>
                <a:latin typeface="Aptos Display"/>
              </a:rPr>
              <a:t>78.4%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542032"/>
            <a:ext cx="21579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E7477"/>
                </a:solidFill>
                <a:latin typeface="Aptos"/>
              </a:rPr>
              <a:t>69 / 88 correct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46704" y="1700784"/>
            <a:ext cx="2523744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46704" y="1700784"/>
            <a:ext cx="50292" cy="1170432"/>
          </a:xfrm>
          <a:prstGeom prst="rect">
            <a:avLst/>
          </a:prstGeom>
          <a:solidFill>
            <a:srgbClr val="218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9584" y="1837944"/>
            <a:ext cx="21579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E7477"/>
                </a:solidFill>
                <a:latin typeface="Aptos"/>
              </a:rPr>
              <a:t>BALANCED ACCURACY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9584" y="2057400"/>
            <a:ext cx="215798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343A"/>
                </a:solidFill>
                <a:latin typeface="Aptos Display"/>
              </a:rPr>
              <a:t>78.4%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9584" y="2542032"/>
            <a:ext cx="21579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E7477"/>
                </a:solidFill>
                <a:latin typeface="Aptos"/>
              </a:rPr>
              <a:t>Equal class recall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1700784"/>
            <a:ext cx="2523744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35040" y="1700784"/>
            <a:ext cx="50292" cy="1170432"/>
          </a:xfrm>
          <a:prstGeom prst="rect">
            <a:avLst/>
          </a:prstGeom>
          <a:solidFill>
            <a:srgbClr val="218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1837944"/>
            <a:ext cx="21579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E7477"/>
                </a:solidFill>
                <a:latin typeface="Aptos"/>
              </a:rPr>
              <a:t>ROC-AUC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057400"/>
            <a:ext cx="215798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343A"/>
                </a:solidFill>
                <a:latin typeface="Aptos Display"/>
              </a:rPr>
              <a:t>0.835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542032"/>
            <a:ext cx="21579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E7477"/>
                </a:solidFill>
                <a:latin typeface="Aptos"/>
              </a:rPr>
              <a:t>Ranking metric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723376" y="1700784"/>
            <a:ext cx="278892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23376" y="1700784"/>
            <a:ext cx="50292" cy="1170432"/>
          </a:xfrm>
          <a:prstGeom prst="rect">
            <a:avLst/>
          </a:prstGeom>
          <a:solidFill>
            <a:srgbClr val="B77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06255" y="1837944"/>
            <a:ext cx="2423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E7477"/>
                </a:solidFill>
                <a:latin typeface="Aptos"/>
              </a:rPr>
              <a:t>HIGH-RISK RECALL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06255" y="2057400"/>
            <a:ext cx="2423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343A"/>
                </a:solidFill>
                <a:latin typeface="Aptos Display"/>
              </a:rPr>
              <a:t>79.5%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06255" y="2542032"/>
            <a:ext cx="24231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E7477"/>
                </a:solidFill>
                <a:latin typeface="Aptos"/>
              </a:rPr>
              <a:t>35 / 44 detected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182112"/>
            <a:ext cx="4572000" cy="2578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3447288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18878"/>
                </a:solidFill>
                <a:latin typeface="Aptos"/>
              </a:rPr>
              <a:t>CONFUSION MATRIX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" y="3785615"/>
            <a:ext cx="3657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E7477"/>
                </a:solidFill>
                <a:latin typeface="Aptos"/>
              </a:rPr>
              <a:t>ACTUAL ?   /   PREDICTED 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075688" y="4114800"/>
            <a:ext cx="1298448" cy="585216"/>
          </a:xfrm>
          <a:prstGeom prst="roundRect">
            <a:avLst/>
          </a:prstGeom>
          <a:solidFill>
            <a:srgbClr val="E4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75688" y="4178808"/>
            <a:ext cx="12984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7343A"/>
                </a:solidFill>
                <a:latin typeface="Aptos Display"/>
              </a:rPr>
              <a:t>34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29968" y="4498848"/>
            <a:ext cx="13898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E7477"/>
                </a:solidFill>
                <a:latin typeface="Aptos"/>
              </a:rPr>
              <a:t>True low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538728" y="4114800"/>
            <a:ext cx="1298448" cy="585216"/>
          </a:xfrm>
          <a:prstGeom prst="roundRect">
            <a:avLst/>
          </a:prstGeom>
          <a:solidFill>
            <a:srgbClr val="FFF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38728" y="4178808"/>
            <a:ext cx="12984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7343A"/>
                </a:solidFill>
                <a:latin typeface="Aptos Display"/>
              </a:rP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93008" y="4498848"/>
            <a:ext cx="13898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E7477"/>
                </a:solidFill>
                <a:latin typeface="Aptos"/>
              </a:rPr>
              <a:t>False alarm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075688" y="4855464"/>
            <a:ext cx="1298448" cy="585216"/>
          </a:xfrm>
          <a:prstGeom prst="roundRect">
            <a:avLst/>
          </a:prstGeom>
          <a:solidFill>
            <a:srgbClr val="FBE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075688" y="4919472"/>
            <a:ext cx="12984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7343A"/>
                </a:solidFill>
                <a:latin typeface="Aptos Display"/>
              </a:rPr>
              <a:t>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29968" y="5239512"/>
            <a:ext cx="13898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E7477"/>
                </a:solidFill>
                <a:latin typeface="Aptos"/>
              </a:rPr>
              <a:t>Missed high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538728" y="4855464"/>
            <a:ext cx="1298448" cy="585216"/>
          </a:xfrm>
          <a:prstGeom prst="roundRect">
            <a:avLst/>
          </a:prstGeom>
          <a:solidFill>
            <a:srgbClr val="E4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38728" y="4919472"/>
            <a:ext cx="12984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7343A"/>
                </a:solidFill>
                <a:latin typeface="Aptos Display"/>
              </a:rPr>
              <a:t>35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93008" y="5239512"/>
            <a:ext cx="13898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E7477"/>
                </a:solidFill>
                <a:latin typeface="Aptos"/>
              </a:rPr>
              <a:t>Detected high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68112" y="3182112"/>
            <a:ext cx="2779776" cy="2578608"/>
          </a:xfrm>
          <a:prstGeom prst="roundRect">
            <a:avLst/>
          </a:prstGeom>
          <a:solidFill>
            <a:srgbClr val="102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60720" y="350215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CE9D4"/>
                </a:solidFill>
                <a:latin typeface="Aptos"/>
              </a:rPr>
              <a:t>HIGH-RISK ALERTS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60720" y="3867912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Aptos Display"/>
              </a:rPr>
              <a:t>77.8%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60720" y="4379976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CE9D4"/>
                </a:solidFill>
                <a:latin typeface="Aptos"/>
              </a:rPr>
              <a:t>precision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760720" y="4754880"/>
            <a:ext cx="2057400" cy="0"/>
          </a:xfrm>
          <a:prstGeom prst="line">
            <a:avLst/>
          </a:prstGeom>
          <a:ln w="12700">
            <a:solidFill>
              <a:srgbClr val="4263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760720" y="5001768"/>
            <a:ext cx="192024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8EB8B"/>
                </a:solidFill>
                <a:latin typeface="Aptos"/>
              </a:rPr>
              <a:t>F1 = 78.7%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485632" y="3182112"/>
            <a:ext cx="3026664" cy="2578608"/>
          </a:xfrm>
          <a:prstGeom prst="roundRect">
            <a:avLst/>
          </a:prstGeom>
          <a:solidFill>
            <a:srgbClr val="E4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778240" y="350215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18878"/>
                </a:solidFill>
                <a:latin typeface="Aptos"/>
              </a:rPr>
              <a:t>REFERENCE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78240" y="3867912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343A"/>
                </a:solidFill>
                <a:latin typeface="Aptos Display"/>
              </a:rPr>
              <a:t>50.0%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78240" y="4379976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E7477"/>
                </a:solidFill>
                <a:latin typeface="Aptos"/>
              </a:rPr>
              <a:t>majority-class baseline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78240" y="4937760"/>
            <a:ext cx="233172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7343A"/>
                </a:solidFill>
                <a:latin typeface="Aptos"/>
              </a:rPr>
              <a:t>5-fold training CV F1: 0.777 ? 0.019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74320"/>
            <a:ext cx="108813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18878"/>
                </a:solidFill>
                <a:latin typeface="Aptos"/>
              </a:rPr>
              <a:t>06 /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7607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343A"/>
                </a:solidFill>
                <a:latin typeface="Aptos Display"/>
              </a:rPr>
              <a:t>Alert thresholds trade missed cases against workload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7477"/>
                </a:solidFill>
                <a:latin typeface="Aptos"/>
              </a:rPr>
              <a:t>The right operating point depends on real delay costs and planner capacity.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73952"/>
            <a:ext cx="10954512" cy="10972"/>
          </a:xfrm>
          <a:prstGeom prst="rect">
            <a:avLst/>
          </a:prstGeom>
          <a:solidFill>
            <a:srgbClr val="D8E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47104"/>
            <a:ext cx="4572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E7477"/>
                </a:solidFill>
                <a:latin typeface="Aptos"/>
              </a:rPr>
              <a:t>FREIGHT SIGNAL  /  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967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E7477"/>
                </a:solidFill>
                <a:latin typeface="Aptos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73936"/>
            <a:ext cx="5230368" cy="2084831"/>
          </a:xfrm>
          <a:prstGeom prst="roundRect">
            <a:avLst/>
          </a:prstGeom>
          <a:solidFill>
            <a:srgbClr val="FBE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50976" y="2048256"/>
            <a:ext cx="1353312" cy="283464"/>
          </a:xfrm>
          <a:prstGeom prst="roundRect">
            <a:avLst/>
          </a:prstGeom>
          <a:solidFill>
            <a:srgbClr val="F7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098548"/>
            <a:ext cx="12070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A44748"/>
                </a:solidFill>
                <a:latin typeface="Aptos"/>
              </a:rPr>
              <a:t>FALSE NEGATIVE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578608"/>
            <a:ext cx="914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44748"/>
                </a:solidFill>
                <a:latin typeface="Aptos Display"/>
              </a:rP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01952" y="2578608"/>
            <a:ext cx="3429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7343A"/>
                </a:solidFill>
                <a:latin typeface="Aptos"/>
              </a:rPr>
              <a:t>high-risk shipments were
classified as low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3337560"/>
            <a:ext cx="4297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7477"/>
                </a:solidFill>
                <a:latin typeface="Aptos"/>
              </a:rPr>
              <a:t>Potential missed opportunity to intervene.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73936"/>
            <a:ext cx="5330952" cy="2084831"/>
          </a:xfrm>
          <a:prstGeom prst="roundRect">
            <a:avLst/>
          </a:prstGeom>
          <a:solidFill>
            <a:srgbClr val="FFF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73952" y="2048256"/>
            <a:ext cx="1353312" cy="283464"/>
          </a:xfrm>
          <a:prstGeom prst="roundRect">
            <a:avLst/>
          </a:prstGeom>
          <a:solidFill>
            <a:srgbClr val="F7E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47104" y="2098548"/>
            <a:ext cx="12070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77724"/>
                </a:solidFill>
                <a:latin typeface="Aptos"/>
              </a:rPr>
              <a:t>FALSE POSITIVE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578608"/>
            <a:ext cx="914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B77724"/>
                </a:solidFill>
                <a:latin typeface="Aptos Display"/>
              </a:rP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2578608"/>
            <a:ext cx="345643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7343A"/>
                </a:solidFill>
                <a:latin typeface="Aptos"/>
              </a:rPr>
              <a:t>low-risk shipments
were flagged high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3337560"/>
            <a:ext cx="4297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7477"/>
                </a:solidFill>
                <a:latin typeface="Aptos"/>
              </a:rPr>
              <a:t>Potential unnecessary review effort.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270248"/>
            <a:ext cx="10853928" cy="1271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" y="4535424"/>
            <a:ext cx="2103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18878"/>
                </a:solidFill>
                <a:latin typeface="Aptos"/>
              </a:rPr>
              <a:t>THRESHOLD 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" y="4855464"/>
            <a:ext cx="242316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7343A"/>
                </a:solidFill>
                <a:latin typeface="Aptos Display"/>
              </a:rPr>
              <a:t>Choose with planners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657600" y="4873752"/>
            <a:ext cx="7086600" cy="0"/>
          </a:xfrm>
          <a:prstGeom prst="line">
            <a:avLst/>
          </a:prstGeom>
          <a:ln w="50800">
            <a:solidFill>
              <a:srgbClr val="D8E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3794760" y="4773168"/>
            <a:ext cx="201168" cy="201168"/>
          </a:xfrm>
          <a:prstGeom prst="ellipse">
            <a:avLst/>
          </a:prstGeom>
          <a:solidFill>
            <a:srgbClr val="218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469880" y="4773168"/>
            <a:ext cx="201168" cy="201168"/>
          </a:xfrm>
          <a:prstGeom prst="ellipse">
            <a:avLst/>
          </a:prstGeom>
          <a:solidFill>
            <a:srgbClr val="B77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5887" y="5148072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E7477"/>
                </a:solidFill>
                <a:latin typeface="Aptos"/>
              </a:rPr>
              <a:t>Higher recall / more alerts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6679" y="5148072"/>
            <a:ext cx="30540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E7477"/>
                </a:solidFill>
                <a:latin typeface="Aptos"/>
              </a:rPr>
              <a:t>Fewer alerts / more misses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74320"/>
            <a:ext cx="108813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18878"/>
                </a:solidFill>
                <a:latin typeface="Aptos"/>
              </a:rPr>
              <a:t>07 / 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7607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343A"/>
                </a:solidFill>
                <a:latin typeface="Aptos Display"/>
              </a:rPr>
              <a:t>A small Flask app makes scoring accessible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7477"/>
                </a:solidFill>
                <a:latin typeface="Aptos"/>
              </a:rPr>
              <a:t>The interface supports one-off assessment and batch scoring using the saved model artifacts.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73952"/>
            <a:ext cx="10954512" cy="10972"/>
          </a:xfrm>
          <a:prstGeom prst="rect">
            <a:avLst/>
          </a:prstGeom>
          <a:solidFill>
            <a:srgbClr val="D8E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47104"/>
            <a:ext cx="4572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E7477"/>
                </a:solidFill>
                <a:latin typeface="Aptos"/>
              </a:rPr>
              <a:t>FREIGHT SIGNAL  /  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967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E7477"/>
                </a:solidFill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37360"/>
            <a:ext cx="4681728" cy="4069080"/>
          </a:xfrm>
          <a:prstGeom prst="roundRect">
            <a:avLst/>
          </a:prstGeom>
          <a:solidFill>
            <a:srgbClr val="102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9264" y="2048256"/>
            <a:ext cx="1508760" cy="283464"/>
          </a:xfrm>
          <a:prstGeom prst="roundRect">
            <a:avLst/>
          </a:prstGeom>
          <a:solidFill>
            <a:srgbClr val="234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2416" y="2098548"/>
            <a:ext cx="13624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CE9D4"/>
                </a:solidFill>
                <a:latin typeface="Aptos"/>
              </a:rPr>
              <a:t>FREIGHT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606040"/>
            <a:ext cx="374903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Aptos Display"/>
              </a:rPr>
              <a:t>Delivery risk
assessment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3803904"/>
            <a:ext cx="37490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CE9D4"/>
                </a:solidFill>
                <a:latin typeface="Aptos"/>
              </a:rPr>
              <a:t>Shipment inputs ? saved preprocessing ? risk label + probability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9264" y="4690872"/>
            <a:ext cx="3950208" cy="640080"/>
          </a:xfrm>
          <a:prstGeom prst="roundRect">
            <a:avLst/>
          </a:prstGeom>
          <a:solidFill>
            <a:srgbClr val="1C4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4901184"/>
            <a:ext cx="36210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8EB8B"/>
                </a:solidFill>
                <a:latin typeface="Aptos"/>
              </a:rPr>
              <a:t>HUMAN REVIEW  ?  NO AUTOMATIC ACTION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0" y="1737360"/>
            <a:ext cx="5843016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89320" y="2029968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18878"/>
                </a:solidFill>
                <a:latin typeface="Aptos"/>
              </a:rPr>
              <a:t>AVAILABLE WORKFLOWS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89320" y="2514600"/>
            <a:ext cx="621792" cy="283464"/>
          </a:xfrm>
          <a:prstGeom prst="roundRect">
            <a:avLst/>
          </a:prstGeom>
          <a:solidFill>
            <a:srgbClr val="E4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62472" y="2564892"/>
            <a:ext cx="4754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18878"/>
                </a:solidFill>
                <a:latin typeface="Aptos"/>
              </a:rPr>
              <a:t>POST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4848" y="2551176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343A"/>
                </a:solidFill>
                <a:latin typeface="Aptos"/>
              </a:rPr>
              <a:t>/predict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62288" y="2551176"/>
            <a:ext cx="19933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E7477"/>
                </a:solidFill>
                <a:latin typeface="Aptos"/>
              </a:rPr>
              <a:t>Single JSON record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89320" y="2953512"/>
            <a:ext cx="5184648" cy="0"/>
          </a:xfrm>
          <a:prstGeom prst="line">
            <a:avLst/>
          </a:prstGeom>
          <a:ln w="10160">
            <a:solidFill>
              <a:srgbClr val="D8E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989320" y="3145536"/>
            <a:ext cx="621792" cy="283464"/>
          </a:xfrm>
          <a:prstGeom prst="roundRect">
            <a:avLst/>
          </a:prstGeom>
          <a:solidFill>
            <a:srgbClr val="E4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62472" y="3195828"/>
            <a:ext cx="4754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18878"/>
                </a:solidFill>
                <a:latin typeface="Aptos"/>
              </a:rPr>
              <a:t>POST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84848" y="3182112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343A"/>
                </a:solidFill>
                <a:latin typeface="Aptos"/>
              </a:rPr>
              <a:t>/predict_batch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62288" y="3182112"/>
            <a:ext cx="19933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E7477"/>
                </a:solidFill>
                <a:latin typeface="Aptos"/>
              </a:rPr>
              <a:t>List of JSON records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989320" y="3584448"/>
            <a:ext cx="5184648" cy="0"/>
          </a:xfrm>
          <a:prstGeom prst="line">
            <a:avLst/>
          </a:prstGeom>
          <a:ln w="10160">
            <a:solidFill>
              <a:srgbClr val="D8E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989320" y="3776472"/>
            <a:ext cx="621792" cy="283464"/>
          </a:xfrm>
          <a:prstGeom prst="roundRect">
            <a:avLst/>
          </a:prstGeom>
          <a:solidFill>
            <a:srgbClr val="E4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62472" y="3826763"/>
            <a:ext cx="4754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18878"/>
                </a:solidFill>
                <a:latin typeface="Aptos"/>
              </a:rPr>
              <a:t>POST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84848" y="3813048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343A"/>
                </a:solidFill>
                <a:latin typeface="Aptos"/>
              </a:rPr>
              <a:t>/predict_batch_file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62288" y="3813048"/>
            <a:ext cx="19933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E7477"/>
                </a:solidFill>
                <a:latin typeface="Aptos"/>
              </a:rPr>
              <a:t>Upload CSV or JSON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989320" y="4215383"/>
            <a:ext cx="5184648" cy="0"/>
          </a:xfrm>
          <a:prstGeom prst="line">
            <a:avLst/>
          </a:prstGeom>
          <a:ln w="10160">
            <a:solidFill>
              <a:srgbClr val="D8E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989320" y="4407408"/>
            <a:ext cx="621792" cy="283464"/>
          </a:xfrm>
          <a:prstGeom prst="roundRect">
            <a:avLst/>
          </a:prstGeom>
          <a:solidFill>
            <a:srgbClr val="E4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62472" y="4457700"/>
            <a:ext cx="4754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18878"/>
                </a:solidFill>
                <a:latin typeface="Aptos"/>
              </a:rPr>
              <a:t>GET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84848" y="4443984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343A"/>
                </a:solidFill>
                <a:latin typeface="Aptos"/>
              </a:rPr>
              <a:t>/health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62288" y="4443984"/>
            <a:ext cx="19933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E7477"/>
                </a:solidFill>
                <a:latin typeface="Aptos"/>
              </a:rPr>
              <a:t>Model/service status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89320" y="5276088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5E7477"/>
                </a:solidFill>
                <a:latin typeface="Aptos"/>
              </a:rPr>
              <a:t>Flask serves both the responsive browser interface and the API.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74320"/>
            <a:ext cx="108813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18878"/>
                </a:solidFill>
                <a:latin typeface="Aptos"/>
              </a:rPr>
              <a:t>08 / BUSINESS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7607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343A"/>
                </a:solidFill>
                <a:latin typeface="Aptos Display"/>
              </a:rPr>
              <a:t>A responsible pilot starts with better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7477"/>
                </a:solidFill>
                <a:latin typeface="Aptos"/>
              </a:rPr>
              <a:t>Use the prototype as a foundation for validation?not as proof of operational value.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73952"/>
            <a:ext cx="10954512" cy="10972"/>
          </a:xfrm>
          <a:prstGeom prst="rect">
            <a:avLst/>
          </a:prstGeom>
          <a:solidFill>
            <a:srgbClr val="D8E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47104"/>
            <a:ext cx="4572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E7477"/>
                </a:solidFill>
                <a:latin typeface="Aptos"/>
              </a:rPr>
              <a:t>FREIGHT SIGNAL  /  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967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E7477"/>
                </a:solidFill>
                <a:latin typeface="Aptos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55648"/>
            <a:ext cx="5303520" cy="1435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77824" y="1975104"/>
            <a:ext cx="429768" cy="283464"/>
          </a:xfrm>
          <a:prstGeom prst="roundRect">
            <a:avLst/>
          </a:prstGeom>
          <a:solidFill>
            <a:srgbClr val="E4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25396"/>
            <a:ext cx="2834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18878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0472" y="1938528"/>
            <a:ext cx="4069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7343A"/>
                </a:solidFill>
                <a:latin typeface="Aptos Display"/>
              </a:rPr>
              <a:t>Define the 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0472" y="2377440"/>
            <a:ext cx="4069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7477"/>
                </a:solidFill>
                <a:latin typeface="Aptos"/>
              </a:rPr>
              <a:t>Agree on a delivery-delay rule tied to actual promised and arrival timestamps.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7" y="1755648"/>
            <a:ext cx="5303520" cy="1435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55664" y="1975104"/>
            <a:ext cx="429768" cy="283464"/>
          </a:xfrm>
          <a:prstGeom prst="roundRect">
            <a:avLst/>
          </a:prstGeom>
          <a:solidFill>
            <a:srgbClr val="E4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28816" y="2025396"/>
            <a:ext cx="2834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18878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68312" y="1938528"/>
            <a:ext cx="4069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7343A"/>
                </a:solidFill>
                <a:latin typeface="Aptos Display"/>
              </a:rPr>
              <a:t>Validate forward in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68312" y="2377440"/>
            <a:ext cx="4069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7477"/>
                </a:solidFill>
                <a:latin typeface="Aptos"/>
              </a:rPr>
              <a:t>Train on earlier shipments; test on a later untouched period and by route/supplier.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465576"/>
            <a:ext cx="5303520" cy="1435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77824" y="3685032"/>
            <a:ext cx="429768" cy="283464"/>
          </a:xfrm>
          <a:prstGeom prst="roundRect">
            <a:avLst/>
          </a:prstGeom>
          <a:solidFill>
            <a:srgbClr val="E4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3735324"/>
            <a:ext cx="2834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18878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90472" y="3648456"/>
            <a:ext cx="4069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7343A"/>
                </a:solidFill>
                <a:latin typeface="Aptos Display"/>
              </a:rPr>
              <a:t>Set useful alerts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90472" y="4087368"/>
            <a:ext cx="4069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7477"/>
                </a:solidFill>
                <a:latin typeface="Aptos"/>
              </a:rPr>
              <a:t>Choose threshold using missed-delay cost, false-alarm workload, and planner capacity.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7" y="3465576"/>
            <a:ext cx="5303520" cy="1435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55664" y="3685032"/>
            <a:ext cx="429768" cy="283464"/>
          </a:xfrm>
          <a:prstGeom prst="roundRect">
            <a:avLst/>
          </a:prstGeom>
          <a:solidFill>
            <a:srgbClr val="E4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28816" y="3735324"/>
            <a:ext cx="2834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18878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68312" y="3648456"/>
            <a:ext cx="4069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7343A"/>
                </a:solidFill>
                <a:latin typeface="Aptos Display"/>
              </a:rPr>
              <a:t>Monitor after launch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68312" y="4087368"/>
            <a:ext cx="4069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7477"/>
                </a:solidFill>
                <a:latin typeface="Aptos"/>
              </a:rPr>
              <a:t>Track data quality, recall, precision, calibration, drift, and human actions.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394960"/>
            <a:ext cx="10881360" cy="521207"/>
          </a:xfrm>
          <a:prstGeom prst="roundRect">
            <a:avLst/>
          </a:prstGeom>
          <a:solidFill>
            <a:srgbClr val="102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559552"/>
            <a:ext cx="10332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8EB8B"/>
                </a:solidFill>
                <a:latin typeface="Aptos"/>
              </a:rPr>
              <a:t>SUCCESS MEANS BETTER, MEASURED DECISIONS?not a high score on synthetic labels.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F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49808" y="658368"/>
            <a:ext cx="2331720" cy="283464"/>
          </a:xfrm>
          <a:prstGeom prst="roundRect">
            <a:avLst/>
          </a:prstGeom>
          <a:solidFill>
            <a:srgbClr val="1F4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59" y="708660"/>
            <a:ext cx="218541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CE9D4"/>
                </a:solidFill>
                <a:latin typeface="Aptos"/>
              </a:rPr>
              <a:t>09 / LIMITATIONS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234440"/>
            <a:ext cx="5943600" cy="1252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ptos Display"/>
              </a:rPr>
              <a:t>Prototype today.
Evidence next.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27889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BCE9D4"/>
                </a:solidFill>
                <a:latin typeface="Aptos"/>
              </a:rPr>
              <a:t>What this project has not established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3255264"/>
            <a:ext cx="5349240" cy="1719072"/>
          </a:xfrm>
          <a:prstGeom prst="rect">
            <a:avLst/>
          </a:prstGeom>
          <a:noFill/>
        </p:spPr>
        <p:txBody>
          <a:bodyPr wrap="square" lIns="0" rIns="18288" tIns="0" bIns="0">
            <a:spAutoFit/>
          </a:bodyPr>
          <a:lstStyle/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200" b="1">
                <a:solidFill>
                  <a:srgbClr val="D8EB8B"/>
                </a:solidFill>
                <a:latin typeface="Aptos"/>
              </a:rPr>
              <a:t>?  </a:t>
            </a:r>
            <a:r>
              <a:rPr sz="1200">
                <a:solidFill>
                  <a:srgbClr val="D7E4DF"/>
                </a:solidFill>
                <a:latin typeface="Aptos"/>
              </a:rPr>
              <a:t>Real-world predictive performance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200" b="1">
                <a:solidFill>
                  <a:srgbClr val="D8EB8B"/>
                </a:solidFill>
                <a:latin typeface="Aptos"/>
              </a:rPr>
              <a:t>?  </a:t>
            </a:r>
            <a:r>
              <a:rPr sz="1200">
                <a:solidFill>
                  <a:srgbClr val="D7E4DF"/>
                </a:solidFill>
                <a:latin typeface="Aptos"/>
              </a:rPr>
              <a:t>Probability calibration or a business-optimal threshold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200" b="1">
                <a:solidFill>
                  <a:srgbClr val="D8EB8B"/>
                </a:solidFill>
                <a:latin typeface="Aptos"/>
              </a:rPr>
              <a:t>?  </a:t>
            </a:r>
            <a:r>
              <a:rPr sz="1200">
                <a:solidFill>
                  <a:srgbClr val="D7E4DF"/>
                </a:solidFill>
                <a:latin typeface="Aptos"/>
              </a:rPr>
              <a:t>Causal impact, fairness, or realized cost savings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200" b="1">
                <a:solidFill>
                  <a:srgbClr val="D8EB8B"/>
                </a:solidFill>
                <a:latin typeface="Aptos"/>
              </a:rPr>
              <a:t>?  </a:t>
            </a:r>
            <a:r>
              <a:rPr sz="1200">
                <a:solidFill>
                  <a:srgbClr val="D7E4DF"/>
                </a:solidFill>
                <a:latin typeface="Aptos"/>
              </a:rPr>
              <a:t>Generalization beyond this small reused holdout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629400" y="1005840"/>
            <a:ext cx="0" cy="4709160"/>
          </a:xfrm>
          <a:prstGeom prst="line">
            <a:avLst/>
          </a:prstGeom>
          <a:ln w="15240">
            <a:solidFill>
              <a:srgbClr val="3154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114032" y="1389888"/>
            <a:ext cx="38404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8EB8B"/>
                </a:solidFill>
                <a:latin typeface="Aptos"/>
              </a:rPr>
              <a:t>NEXT MILESTONE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4032" y="1847088"/>
            <a:ext cx="41605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ptos Display"/>
              </a:rPr>
              <a:t>Bring in approved shipment history, define labels, and validate against a future time period.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14032" y="3429000"/>
            <a:ext cx="4178808" cy="667512"/>
          </a:xfrm>
          <a:prstGeom prst="roundRect">
            <a:avLst/>
          </a:prstGeom>
          <a:solidFill>
            <a:srgbClr val="1D45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51775" y="3639312"/>
            <a:ext cx="37490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BCE9D4"/>
                </a:solidFill>
                <a:latin typeface="Aptos"/>
              </a:rPr>
              <a:t>Human-reviewed pilot 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5925312"/>
            <a:ext cx="32004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D8EB8B"/>
                </a:solidFill>
                <a:latin typeface="Aptos Display"/>
              </a:rPr>
              <a:t>Thank you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4032" y="4818888"/>
            <a:ext cx="4160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D8EB8B"/>
                </a:solidFill>
                <a:latin typeface="Aptos Display"/>
              </a:rPr>
              <a:t>QUESTIONS &amp; DISCUSSION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6537960"/>
            <a:ext cx="45720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A8C0B9"/>
                </a:solidFill>
                <a:latin typeface="Aptos"/>
              </a:rPr>
              <a:t>FREIGHT SIGNAL  /  CAPSTONE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51967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8C0B9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Freight Signal | Supply Chain Delivery Risk</dc:title>
  <dc:subject>Capstone presentation: delivery-risk prediction prototype</dc:subject>
  <dc:creator>Freight Signal Capstone Team</dc:creator>
  <cp:keywords>supply chain, delivery risk, machine learning, capstone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